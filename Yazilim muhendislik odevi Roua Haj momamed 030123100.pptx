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58" r:id="rId5"/>
    <p:sldId id="260" r:id="rId6"/>
    <p:sldId id="261" r:id="rId7"/>
    <p:sldId id="273" r:id="rId8"/>
    <p:sldId id="263" r:id="rId9"/>
    <p:sldId id="262" r:id="rId10"/>
    <p:sldId id="27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8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67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Ödev gereksinimleri (yüklenen PDF).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3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Assured genel tanıtım/dokümantasyon: https://rest-assured.io/ (kütüphane amaç ve kullanım bağlamı).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Otomatik testleri yapılandırma prensipleri (katmanlar ve pratik öneriler): https://www.thoughtworks.com/en-us/insights/blog/guidelines-structuring-automated-tests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36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ReqRes API docs (GET users): https://reqres.in/api-docs/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Assured: https://rest-assured.io/ ve GitHub repo: https://github.com/rest-assured/rest-assured
- JUnit4 (About): https://junit.org/junit4/
- Apache Maven: https://maven.apache.org/
- ReqRes API docs (Swagger): https://reqres.in/api-docs/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944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7680" y="1143000"/>
            <a:ext cx="194717" cy="2926079"/>
          </a:xfrm>
          <a:custGeom>
            <a:avLst/>
            <a:gdLst>
              <a:gd name="connsiteX0" fmla="*/ 0 w 137160"/>
              <a:gd name="connsiteY0" fmla="*/ 0 h 2926080"/>
              <a:gd name="connsiteX1" fmla="*/ 137160 w 137160"/>
              <a:gd name="connsiteY1" fmla="*/ 0 h 2926080"/>
              <a:gd name="connsiteX2" fmla="*/ 137160 w 137160"/>
              <a:gd name="connsiteY2" fmla="*/ 2926080 h 2926080"/>
              <a:gd name="connsiteX3" fmla="*/ 0 w 137160"/>
              <a:gd name="connsiteY3" fmla="*/ 2926080 h 2926080"/>
              <a:gd name="connsiteX4" fmla="*/ 0 w 137160"/>
              <a:gd name="connsiteY4" fmla="*/ 0 h 2926080"/>
              <a:gd name="connsiteX0" fmla="*/ 0 w 142240"/>
              <a:gd name="connsiteY0" fmla="*/ 76200 h 2926080"/>
              <a:gd name="connsiteX1" fmla="*/ 142240 w 142240"/>
              <a:gd name="connsiteY1" fmla="*/ 0 h 2926080"/>
              <a:gd name="connsiteX2" fmla="*/ 142240 w 142240"/>
              <a:gd name="connsiteY2" fmla="*/ 2926080 h 2926080"/>
              <a:gd name="connsiteX3" fmla="*/ 5080 w 142240"/>
              <a:gd name="connsiteY3" fmla="*/ 2926080 h 2926080"/>
              <a:gd name="connsiteX4" fmla="*/ 0 w 142240"/>
              <a:gd name="connsiteY4" fmla="*/ 76200 h 2926080"/>
              <a:gd name="connsiteX0" fmla="*/ 0 w 148033"/>
              <a:gd name="connsiteY0" fmla="*/ 3183 h 2926080"/>
              <a:gd name="connsiteX1" fmla="*/ 148033 w 148033"/>
              <a:gd name="connsiteY1" fmla="*/ 0 h 2926080"/>
              <a:gd name="connsiteX2" fmla="*/ 148033 w 148033"/>
              <a:gd name="connsiteY2" fmla="*/ 2926080 h 2926080"/>
              <a:gd name="connsiteX3" fmla="*/ 10873 w 148033"/>
              <a:gd name="connsiteY3" fmla="*/ 2926080 h 2926080"/>
              <a:gd name="connsiteX4" fmla="*/ 0 w 148033"/>
              <a:gd name="connsiteY4" fmla="*/ 3183 h 292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033" h="2926080">
                <a:moveTo>
                  <a:pt x="0" y="3183"/>
                </a:moveTo>
                <a:lnTo>
                  <a:pt x="148033" y="0"/>
                </a:lnTo>
                <a:lnTo>
                  <a:pt x="148033" y="2926080"/>
                </a:lnTo>
                <a:lnTo>
                  <a:pt x="10873" y="2926080"/>
                </a:lnTo>
                <a:cubicBezTo>
                  <a:pt x="9180" y="1976120"/>
                  <a:pt x="1693" y="953143"/>
                  <a:pt x="0" y="3183"/>
                </a:cubicBezTo>
                <a:close/>
              </a:path>
            </a:pathLst>
          </a:cu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0993" y="141732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Yazılım Test Mühendisliği — Proje Ödevi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7565" y="187452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</a:rPr>
              <a:t>Rest Assured ile API Test Otomasyonu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40993" y="27432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Java 17 • Maven • JUnit4 • GET/POST • Regresyon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1094415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7091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Hazırlayan: </a:t>
            </a:r>
            <a:r>
              <a:rPr lang="tr-TR" sz="1600" dirty="0" smtClean="0">
                <a:solidFill>
                  <a:srgbClr val="0F172A"/>
                </a:solidFill>
              </a:rPr>
              <a:t>Roua Haj momamed    </a:t>
            </a:r>
            <a:r>
              <a:rPr lang="en-US" sz="1600" dirty="0" smtClean="0">
                <a:solidFill>
                  <a:srgbClr val="0F172A"/>
                </a:solidFill>
              </a:rPr>
              <a:t>•    </a:t>
            </a:r>
            <a:r>
              <a:rPr lang="tr-TR" sz="1600" dirty="0" smtClean="0">
                <a:solidFill>
                  <a:srgbClr val="0F172A"/>
                </a:solidFill>
              </a:rPr>
              <a:t>Öğrenci num</a:t>
            </a:r>
            <a:r>
              <a:rPr lang="en-US" sz="1600" dirty="0" smtClean="0">
                <a:solidFill>
                  <a:srgbClr val="0F172A"/>
                </a:solidFill>
              </a:rPr>
              <a:t>:</a:t>
            </a:r>
            <a:r>
              <a:rPr lang="tr-TR" sz="1600" dirty="0" smtClean="0">
                <a:solidFill>
                  <a:srgbClr val="0F172A"/>
                </a:solidFill>
              </a:rPr>
              <a:t> 030123100</a:t>
            </a:r>
            <a:r>
              <a:rPr lang="en-US" sz="1600" dirty="0" smtClean="0">
                <a:solidFill>
                  <a:srgbClr val="0F172A"/>
                </a:solidFill>
              </a:rPr>
              <a:t>    </a:t>
            </a:r>
            <a:r>
              <a:rPr lang="en-US" sz="1600" dirty="0">
                <a:solidFill>
                  <a:srgbClr val="0F172A"/>
                </a:solidFill>
              </a:rPr>
              <a:t>•    Tarih: </a:t>
            </a:r>
            <a:r>
              <a:rPr lang="tr-TR" sz="1600" dirty="0" smtClean="0">
                <a:solidFill>
                  <a:srgbClr val="0F172A"/>
                </a:solidFill>
              </a:rPr>
              <a:t>26.12.2025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48640" y="1097280"/>
            <a:ext cx="54406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3"/>
          <p:cNvSpPr/>
          <p:nvPr/>
        </p:nvSpPr>
        <p:spPr>
          <a:xfrm>
            <a:off x="6202375" y="1099004"/>
            <a:ext cx="54406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ZA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r>
              <a:rPr lang="tr-TR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4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Türleri</a:t>
            </a:r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09728" cy="5212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3361" y="1261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400" b="1" dirty="0" err="1">
                <a:solidFill>
                  <a:srgbClr val="0F172A"/>
                </a:solidFill>
              </a:rPr>
              <a:t>Yazılım</a:t>
            </a:r>
            <a:r>
              <a:rPr lang="fr-F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>
                <a:solidFill>
                  <a:srgbClr val="0F172A"/>
                </a:solidFill>
              </a:rPr>
              <a:t>Test</a:t>
            </a:r>
            <a:r>
              <a:rPr lang="fr-F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 err="1" smtClean="0">
                <a:solidFill>
                  <a:srgbClr val="0F172A"/>
                </a:solidFill>
              </a:rPr>
              <a:t>Mühendislik</a:t>
            </a:r>
            <a:r>
              <a:rPr lang="tr-TR" sz="2400" b="1" dirty="0" smtClean="0">
                <a:solidFill>
                  <a:srgbClr val="0F172A"/>
                </a:solidFill>
              </a:rPr>
              <a:t> nedir?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2000" b="1" u="sng" dirty="0">
                <a:solidFill>
                  <a:srgbClr val="C00000"/>
                </a:solidFill>
              </a:rPr>
              <a:t>Tan</a:t>
            </a:r>
            <a:r>
              <a:rPr lang="tr-TR" sz="2000" b="1" u="sng" dirty="0">
                <a:solidFill>
                  <a:srgbClr val="C00000"/>
                </a:solidFill>
              </a:rPr>
              <a:t>ıtım:</a:t>
            </a:r>
            <a:endParaRPr lang="fr-FR" sz="2000" b="1" u="sng" dirty="0">
              <a:solidFill>
                <a:srgbClr val="C00000"/>
              </a:solidFill>
            </a:endParaRPr>
          </a:p>
          <a:p>
            <a:r>
              <a:rPr lang="fr-FR" dirty="0" err="1" smtClean="0">
                <a:solidFill>
                  <a:srgbClr val="334155"/>
                </a:solidFill>
              </a:rPr>
              <a:t>Yazılım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>
                <a:solidFill>
                  <a:srgbClr val="334155"/>
                </a:solidFill>
              </a:rPr>
              <a:t>Test </a:t>
            </a:r>
            <a:r>
              <a:rPr lang="fr-FR" dirty="0" err="1">
                <a:solidFill>
                  <a:srgbClr val="334155"/>
                </a:solidFill>
              </a:rPr>
              <a:t>Mühendisliği</a:t>
            </a:r>
            <a:r>
              <a:rPr lang="fr-FR" dirty="0">
                <a:solidFill>
                  <a:srgbClr val="334155"/>
                </a:solidFill>
              </a:rPr>
              <a:t>, </a:t>
            </a:r>
            <a:r>
              <a:rPr lang="fr-FR" dirty="0" err="1">
                <a:solidFill>
                  <a:srgbClr val="334155"/>
                </a:solidFill>
              </a:rPr>
              <a:t>bir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yazılımın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istenen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gereksinimlere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uygun</a:t>
            </a:r>
            <a:r>
              <a:rPr lang="fr-FR" dirty="0">
                <a:solidFill>
                  <a:srgbClr val="334155"/>
                </a:solidFill>
              </a:rPr>
              <a:t>, </a:t>
            </a:r>
            <a:r>
              <a:rPr lang="fr-FR" dirty="0" err="1">
                <a:solidFill>
                  <a:srgbClr val="334155"/>
                </a:solidFill>
              </a:rPr>
              <a:t>hatasız</a:t>
            </a:r>
            <a:r>
              <a:rPr lang="fr-FR" dirty="0">
                <a:solidFill>
                  <a:srgbClr val="334155"/>
                </a:solidFill>
              </a:rPr>
              <a:t>, </a:t>
            </a:r>
            <a:r>
              <a:rPr lang="fr-FR" dirty="0" err="1">
                <a:solidFill>
                  <a:srgbClr val="334155"/>
                </a:solidFill>
              </a:rPr>
              <a:t>güvenilir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ve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yüksek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kaliteli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çalışıp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çalışmadığını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bilimsel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yöntemler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ve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teknikler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kullanarak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doğrulayan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mühendislik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disiplinidir</a:t>
            </a:r>
            <a:r>
              <a:rPr lang="fr-FR" dirty="0" smtClean="0">
                <a:solidFill>
                  <a:srgbClr val="334155"/>
                </a:solidFill>
              </a:rPr>
              <a:t>.</a:t>
            </a:r>
            <a:endParaRPr lang="tr-TR" dirty="0" smtClean="0">
              <a:solidFill>
                <a:srgbClr val="334155"/>
              </a:solidFill>
            </a:endParaRPr>
          </a:p>
          <a:p>
            <a:endParaRPr lang="tr-TR" sz="2000" b="1" u="sng" dirty="0" smtClean="0">
              <a:solidFill>
                <a:srgbClr val="C00000"/>
              </a:solidFill>
            </a:endParaRPr>
          </a:p>
          <a:p>
            <a:r>
              <a:rPr lang="tr-TR" sz="2000" b="1" u="sng" dirty="0" smtClean="0">
                <a:solidFill>
                  <a:srgbClr val="C00000"/>
                </a:solidFill>
              </a:rPr>
              <a:t>Amaç</a:t>
            </a:r>
            <a:r>
              <a:rPr lang="tr-TR" sz="2000" b="1" u="sng" dirty="0">
                <a:solidFill>
                  <a:srgbClr val="C00000"/>
                </a:solidFill>
              </a:rPr>
              <a:t>:</a:t>
            </a:r>
          </a:p>
          <a:p>
            <a:r>
              <a:rPr lang="tr-TR" dirty="0" smtClean="0">
                <a:solidFill>
                  <a:srgbClr val="334155"/>
                </a:solidFill>
              </a:rPr>
              <a:t>- </a:t>
            </a:r>
            <a:r>
              <a:rPr lang="fr-FR" dirty="0" err="1">
                <a:solidFill>
                  <a:srgbClr val="334155"/>
                </a:solidFill>
              </a:rPr>
              <a:t>hataları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erken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yakalamak</a:t>
            </a:r>
            <a:r>
              <a:rPr lang="tr-TR" dirty="0">
                <a:solidFill>
                  <a:srgbClr val="334155"/>
                </a:solidFill>
              </a:rPr>
              <a:t>.</a:t>
            </a:r>
            <a:r>
              <a:rPr lang="fr-FR" dirty="0">
                <a:solidFill>
                  <a:srgbClr val="334155"/>
                </a:solidFill>
              </a:rPr>
              <a:t/>
            </a:r>
            <a:br>
              <a:rPr lang="fr-FR" dirty="0">
                <a:solidFill>
                  <a:srgbClr val="334155"/>
                </a:solidFill>
              </a:rPr>
            </a:br>
            <a:r>
              <a:rPr lang="tr-TR" dirty="0">
                <a:solidFill>
                  <a:srgbClr val="334155"/>
                </a:solidFill>
              </a:rPr>
              <a:t>- </a:t>
            </a:r>
            <a:r>
              <a:rPr lang="fr-FR" dirty="0" err="1">
                <a:solidFill>
                  <a:srgbClr val="334155"/>
                </a:solidFill>
              </a:rPr>
              <a:t>riskleri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azaltmak</a:t>
            </a:r>
            <a:r>
              <a:rPr lang="tr-TR" dirty="0">
                <a:solidFill>
                  <a:srgbClr val="334155"/>
                </a:solidFill>
              </a:rPr>
              <a:t>.</a:t>
            </a:r>
            <a:r>
              <a:rPr lang="fr-FR" dirty="0">
                <a:solidFill>
                  <a:srgbClr val="334155"/>
                </a:solidFill>
              </a:rPr>
              <a:t/>
            </a:r>
            <a:br>
              <a:rPr lang="fr-FR" dirty="0">
                <a:solidFill>
                  <a:srgbClr val="334155"/>
                </a:solidFill>
              </a:rPr>
            </a:br>
            <a:r>
              <a:rPr lang="tr-TR" dirty="0">
                <a:solidFill>
                  <a:srgbClr val="334155"/>
                </a:solidFill>
              </a:rPr>
              <a:t>- </a:t>
            </a:r>
            <a:r>
              <a:rPr lang="fr-FR" dirty="0" err="1">
                <a:solidFill>
                  <a:srgbClr val="334155"/>
                </a:solidFill>
              </a:rPr>
              <a:t>yazılım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kalitesini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sürekli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iyileştirmektir</a:t>
            </a:r>
            <a:r>
              <a:rPr lang="tr-TR" dirty="0">
                <a:solidFill>
                  <a:srgbClr val="334155"/>
                </a:solidFill>
              </a:rPr>
              <a:t>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53912" y="1113469"/>
            <a:ext cx="109728" cy="517970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14748" y="1259935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400" b="1" dirty="0" err="1">
                <a:solidFill>
                  <a:srgbClr val="0F172A"/>
                </a:solidFill>
              </a:rPr>
              <a:t>Yazılım</a:t>
            </a:r>
            <a:r>
              <a:rPr lang="fr-FR" sz="2400" dirty="0"/>
              <a:t> </a:t>
            </a:r>
            <a:r>
              <a:rPr lang="fr-FR" sz="2400" b="1" dirty="0">
                <a:solidFill>
                  <a:srgbClr val="0F172A"/>
                </a:solidFill>
              </a:rPr>
              <a:t>Test </a:t>
            </a:r>
            <a:r>
              <a:rPr lang="fr-FR" sz="2400" b="1" dirty="0" err="1" smtClean="0">
                <a:solidFill>
                  <a:srgbClr val="0F172A"/>
                </a:solidFill>
              </a:rPr>
              <a:t>Türleri</a:t>
            </a:r>
            <a:r>
              <a:rPr lang="tr-TR" sz="2400" b="1" dirty="0">
                <a:solidFill>
                  <a:srgbClr val="0F172A"/>
                </a:solidFill>
              </a:rPr>
              <a:t>: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1645920"/>
            <a:ext cx="5010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sp>
        <p:nvSpPr>
          <p:cNvPr id="23" name="ZoneTexte 22"/>
          <p:cNvSpPr txBox="1"/>
          <p:nvPr/>
        </p:nvSpPr>
        <p:spPr>
          <a:xfrm>
            <a:off x="6428232" y="1579975"/>
            <a:ext cx="5997428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u="sng" dirty="0" smtClean="0">
                <a:solidFill>
                  <a:srgbClr val="C00000"/>
                </a:solidFill>
              </a:rPr>
              <a:t>Manuel Test: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sz="1700" dirty="0" smtClean="0">
                <a:solidFill>
                  <a:srgbClr val="334155"/>
                </a:solidFill>
              </a:rPr>
              <a:t>Testlerin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insan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tarafından</a:t>
            </a:r>
            <a:r>
              <a:rPr lang="fr-FR" sz="1700" dirty="0" smtClean="0">
                <a:solidFill>
                  <a:srgbClr val="334155"/>
                </a:solidFill>
              </a:rPr>
              <a:t>, </a:t>
            </a:r>
            <a:r>
              <a:rPr lang="fr-FR" sz="1700" dirty="0" err="1" smtClean="0">
                <a:solidFill>
                  <a:srgbClr val="334155"/>
                </a:solidFill>
              </a:rPr>
              <a:t>herhangi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bir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otomasyon</a:t>
            </a:r>
            <a:endParaRPr lang="fr-FR" sz="1700" dirty="0" smtClean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err="1" smtClean="0">
                <a:solidFill>
                  <a:srgbClr val="334155"/>
                </a:solidFill>
              </a:rPr>
              <a:t>aracı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kullanılmadan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yapılmasıdır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700" dirty="0" smtClean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Test </a:t>
            </a:r>
            <a:r>
              <a:rPr lang="fr-FR" sz="1700" dirty="0" err="1">
                <a:solidFill>
                  <a:srgbClr val="334155"/>
                </a:solidFill>
              </a:rPr>
              <a:t>senaryoları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adım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adım</a:t>
            </a:r>
            <a:r>
              <a:rPr lang="fr-FR" sz="1700" dirty="0">
                <a:solidFill>
                  <a:srgbClr val="334155"/>
                </a:solidFill>
              </a:rPr>
              <a:t> manuel </a:t>
            </a:r>
            <a:r>
              <a:rPr lang="fr-FR" sz="1700" dirty="0" err="1" smtClean="0">
                <a:solidFill>
                  <a:srgbClr val="334155"/>
                </a:solidFill>
              </a:rPr>
              <a:t>uygulanır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Genellikle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keşif</a:t>
            </a:r>
            <a:r>
              <a:rPr lang="fr-FR" sz="1700" dirty="0">
                <a:solidFill>
                  <a:srgbClr val="334155"/>
                </a:solidFill>
              </a:rPr>
              <a:t> (</a:t>
            </a:r>
            <a:r>
              <a:rPr lang="fr-FR" sz="1700" dirty="0" err="1">
                <a:solidFill>
                  <a:srgbClr val="334155"/>
                </a:solidFill>
              </a:rPr>
              <a:t>exploratory</a:t>
            </a:r>
            <a:r>
              <a:rPr lang="fr-FR" sz="1700" dirty="0">
                <a:solidFill>
                  <a:srgbClr val="334155"/>
                </a:solidFill>
              </a:rPr>
              <a:t>)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UI </a:t>
            </a:r>
            <a:r>
              <a:rPr lang="fr-FR" sz="1700" dirty="0" err="1" smtClean="0">
                <a:solidFill>
                  <a:srgbClr val="334155"/>
                </a:solidFill>
              </a:rPr>
              <a:t>testlerinde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kullanılır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1700" dirty="0" smtClean="0">
                <a:solidFill>
                  <a:srgbClr val="334155"/>
                </a:solidFill>
              </a:rPr>
              <a:t>- </a:t>
            </a:r>
            <a:r>
              <a:rPr lang="tr-TR" sz="1700" dirty="0" smtClean="0">
                <a:solidFill>
                  <a:srgbClr val="334155"/>
                </a:solidFill>
              </a:rPr>
              <a:t>Kurulumu kolaydır, ancak zaman alır</a:t>
            </a:r>
            <a:endParaRPr lang="fr-FR" sz="1600" b="1" dirty="0" smtClean="0">
              <a:solidFill>
                <a:srgbClr val="C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b="1" u="sng" dirty="0" smtClean="0">
              <a:solidFill>
                <a:srgbClr val="C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u="sng" dirty="0" err="1" smtClean="0">
                <a:solidFill>
                  <a:srgbClr val="C00000"/>
                </a:solidFill>
              </a:rPr>
              <a:t>Otomasyon</a:t>
            </a:r>
            <a:r>
              <a:rPr lang="fr-FR" sz="2000" b="1" u="sng" dirty="0" smtClean="0">
                <a:solidFill>
                  <a:srgbClr val="C00000"/>
                </a:solidFill>
              </a:rPr>
              <a:t> </a:t>
            </a:r>
            <a:r>
              <a:rPr lang="fr-FR" sz="2000" b="1" u="sng" dirty="0" err="1" smtClean="0">
                <a:solidFill>
                  <a:srgbClr val="C00000"/>
                </a:solidFill>
              </a:rPr>
              <a:t>Testi</a:t>
            </a:r>
            <a:r>
              <a:rPr lang="fr-FR" sz="2000" b="1" u="sng" dirty="0" smtClean="0">
                <a:solidFill>
                  <a:srgbClr val="C00000"/>
                </a:solidFill>
              </a:rPr>
              <a:t>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err="1" smtClean="0">
                <a:solidFill>
                  <a:srgbClr val="334155"/>
                </a:solidFill>
              </a:rPr>
              <a:t>Testlerin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kod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araçlar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kullanılarak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otomatik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şekilde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çalıştırılmasıdır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Testler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tekrar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tekrar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hızlı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şekilde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çalıştırılır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Regresyon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API </a:t>
            </a:r>
            <a:r>
              <a:rPr lang="fr-FR" sz="1700" dirty="0" err="1">
                <a:solidFill>
                  <a:srgbClr val="334155"/>
                </a:solidFill>
              </a:rPr>
              <a:t>testleri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için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idealdir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Zaman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maliyet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tasarrufu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sağlar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dirty="0"/>
          </a:p>
        </p:txBody>
      </p:sp>
      <p:sp>
        <p:nvSpPr>
          <p:cNvPr id="26" name="AutoShape 5" descr="ENSTİTÜ İSTANBUL İSMEK :. Yazılım Test Mühendisi Gelişim Programı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3"/>
          <p:cNvSpPr/>
          <p:nvPr/>
        </p:nvSpPr>
        <p:spPr>
          <a:xfrm>
            <a:off x="6483406" y="1099004"/>
            <a:ext cx="5440680" cy="19806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3"/>
          <p:cNvSpPr/>
          <p:nvPr/>
        </p:nvSpPr>
        <p:spPr>
          <a:xfrm>
            <a:off x="6202375" y="1099004"/>
            <a:ext cx="5440680" cy="5212080"/>
          </a:xfrm>
          <a:prstGeom prst="roundRect">
            <a:avLst/>
          </a:prstGeom>
          <a:noFill/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API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r>
              <a:rPr lang="tr-TR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</a:t>
            </a:r>
            <a:r>
              <a:rPr lang="fr-FR" sz="14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yapar</a:t>
            </a:r>
            <a:r>
              <a:rPr lang="en-US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406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75399" y="1245357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ZA" sz="2400" b="1" dirty="0" smtClean="0">
                <a:solidFill>
                  <a:srgbClr val="0F172A"/>
                </a:solidFill>
              </a:rPr>
              <a:t>API Test </a:t>
            </a:r>
            <a:r>
              <a:rPr lang="tr-TR" sz="2400" b="1" dirty="0" smtClean="0">
                <a:solidFill>
                  <a:srgbClr val="0F172A"/>
                </a:solidFill>
              </a:rPr>
              <a:t>nedir?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2000" b="1" u="sng" dirty="0">
                <a:solidFill>
                  <a:srgbClr val="C00000"/>
                </a:solidFill>
              </a:rPr>
              <a:t>Tan</a:t>
            </a:r>
            <a:r>
              <a:rPr lang="tr-TR" sz="2000" b="1" u="sng" dirty="0">
                <a:solidFill>
                  <a:srgbClr val="C00000"/>
                </a:solidFill>
              </a:rPr>
              <a:t>ıtım:</a:t>
            </a:r>
            <a:endParaRPr lang="fr-FR" sz="2000" b="1" u="sng" dirty="0">
              <a:solidFill>
                <a:srgbClr val="C00000"/>
              </a:solidFill>
            </a:endParaRPr>
          </a:p>
          <a:p>
            <a:r>
              <a:rPr lang="fr-FR" dirty="0" smtClean="0">
                <a:solidFill>
                  <a:srgbClr val="334155"/>
                </a:solidFill>
              </a:rPr>
              <a:t>API </a:t>
            </a:r>
            <a:r>
              <a:rPr lang="fr-FR" dirty="0" err="1" smtClean="0">
                <a:solidFill>
                  <a:srgbClr val="334155"/>
                </a:solidFill>
              </a:rPr>
              <a:t>testi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bir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yazılımın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sunucu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servislerinin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doğru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çalışıp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çalışmadığını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kullanıcı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arayüzü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olmadan</a:t>
            </a:r>
            <a:endParaRPr lang="fr-FR" dirty="0">
              <a:solidFill>
                <a:srgbClr val="334155"/>
              </a:solidFill>
            </a:endParaRPr>
          </a:p>
          <a:p>
            <a:r>
              <a:rPr lang="tr-TR" dirty="0" smtClean="0">
                <a:solidFill>
                  <a:srgbClr val="334155"/>
                </a:solidFill>
              </a:rPr>
              <a:t>İstek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ve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 smtClean="0">
                <a:solidFill>
                  <a:srgbClr val="334155"/>
                </a:solidFill>
              </a:rPr>
              <a:t>cevap</a:t>
            </a:r>
            <a:r>
              <a:rPr lang="fr-FR" dirty="0" smtClean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üzerinden</a:t>
            </a:r>
            <a:r>
              <a:rPr lang="fr-FR" dirty="0">
                <a:solidFill>
                  <a:srgbClr val="334155"/>
                </a:solidFill>
              </a:rPr>
              <a:t> test </a:t>
            </a:r>
            <a:r>
              <a:rPr lang="fr-FR" dirty="0" err="1">
                <a:solidFill>
                  <a:srgbClr val="334155"/>
                </a:solidFill>
              </a:rPr>
              <a:t>etme</a:t>
            </a:r>
            <a:r>
              <a:rPr lang="fr-FR" dirty="0">
                <a:solidFill>
                  <a:srgbClr val="334155"/>
                </a:solidFill>
              </a:rPr>
              <a:t> </a:t>
            </a:r>
            <a:r>
              <a:rPr lang="fr-FR" dirty="0" err="1">
                <a:solidFill>
                  <a:srgbClr val="334155"/>
                </a:solidFill>
              </a:rPr>
              <a:t>işlemidir</a:t>
            </a:r>
            <a:r>
              <a:rPr lang="fr-FR" dirty="0">
                <a:solidFill>
                  <a:srgbClr val="334155"/>
                </a:solidFill>
              </a:rPr>
              <a:t>.</a:t>
            </a:r>
            <a:endParaRPr lang="tr-TR" dirty="0">
              <a:solidFill>
                <a:srgbClr val="334155"/>
              </a:solidFill>
            </a:endParaRPr>
          </a:p>
          <a:p>
            <a:endParaRPr lang="en-ZA" sz="2000" b="1" u="sng" dirty="0" smtClean="0">
              <a:solidFill>
                <a:srgbClr val="C00000"/>
              </a:solidFill>
            </a:endParaRPr>
          </a:p>
          <a:p>
            <a:endParaRPr lang="tr-TR" sz="2000" b="1" u="sng" dirty="0" smtClean="0">
              <a:solidFill>
                <a:srgbClr val="C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sz="2000" b="1" u="sng" dirty="0">
                <a:solidFill>
                  <a:srgbClr val="C00000"/>
                </a:solidFill>
              </a:rPr>
              <a:t>Amaç</a:t>
            </a:r>
            <a:r>
              <a:rPr lang="tr-TR" sz="2000" b="1" u="sng" dirty="0" smtClean="0">
                <a:solidFill>
                  <a:srgbClr val="C00000"/>
                </a:solidFill>
              </a:rPr>
              <a:t>:</a:t>
            </a:r>
            <a:endParaRPr lang="tr-TR" sz="2000" b="1" u="sng" dirty="0">
              <a:solidFill>
                <a:srgbClr val="C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Servisin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doğru</a:t>
            </a:r>
            <a:r>
              <a:rPr lang="fr-FR" sz="1700" dirty="0">
                <a:solidFill>
                  <a:srgbClr val="334155"/>
                </a:solidFill>
              </a:rPr>
              <a:t>, </a:t>
            </a:r>
            <a:r>
              <a:rPr lang="fr-FR" sz="1700" dirty="0" err="1">
                <a:solidFill>
                  <a:srgbClr val="334155"/>
                </a:solidFill>
              </a:rPr>
              <a:t>hızlı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güvenilir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çalıştığını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doğrulamak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Hataları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erken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aşamada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yakalamak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Otomasyon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regresyon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testlerine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uygunluk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sağlamak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6625" y="1131383"/>
            <a:ext cx="109728" cy="517970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7814" y="1236199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F172A"/>
                </a:solidFill>
              </a:rPr>
              <a:t>API </a:t>
            </a:r>
            <a:r>
              <a:rPr lang="en-US" sz="2400" b="1" dirty="0" err="1">
                <a:solidFill>
                  <a:srgbClr val="0F172A"/>
                </a:solidFill>
              </a:rPr>
              <a:t>testi</a:t>
            </a:r>
            <a:r>
              <a:rPr lang="en-US" sz="2400" b="1" dirty="0">
                <a:solidFill>
                  <a:srgbClr val="0F172A"/>
                </a:solidFill>
              </a:rPr>
              <a:t> </a:t>
            </a:r>
            <a:r>
              <a:rPr lang="en-US" sz="2400" b="1" dirty="0" err="1">
                <a:solidFill>
                  <a:srgbClr val="0F172A"/>
                </a:solidFill>
              </a:rPr>
              <a:t>neyi</a:t>
            </a:r>
            <a:r>
              <a:rPr lang="en-US" sz="2400" b="1" dirty="0">
                <a:solidFill>
                  <a:srgbClr val="0F172A"/>
                </a:solidFill>
              </a:rPr>
              <a:t> </a:t>
            </a:r>
            <a:r>
              <a:rPr lang="en-US" sz="2400" b="1" dirty="0" err="1">
                <a:solidFill>
                  <a:srgbClr val="0F172A"/>
                </a:solidFill>
              </a:rPr>
              <a:t>doğrular</a:t>
            </a:r>
            <a:r>
              <a:rPr lang="en-US" sz="2400" b="1" dirty="0">
                <a:solidFill>
                  <a:srgbClr val="0F172A"/>
                </a:solidFill>
              </a:rPr>
              <a:t>?</a:t>
            </a:r>
          </a:p>
        </p:txBody>
      </p:sp>
      <p:sp>
        <p:nvSpPr>
          <p:cNvPr id="12" name="Text 10"/>
          <p:cNvSpPr/>
          <p:nvPr/>
        </p:nvSpPr>
        <p:spPr>
          <a:xfrm>
            <a:off x="6537960" y="1645920"/>
            <a:ext cx="5010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sp>
        <p:nvSpPr>
          <p:cNvPr id="23" name="ZoneTexte 22"/>
          <p:cNvSpPr txBox="1"/>
          <p:nvPr/>
        </p:nvSpPr>
        <p:spPr>
          <a:xfrm>
            <a:off x="6612122" y="1616551"/>
            <a:ext cx="5997428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Status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Code (200, 201, 4xx, 5xx)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Response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Body (</a:t>
            </a:r>
            <a:r>
              <a:rPr lang="fr-FR" sz="1700" dirty="0" err="1">
                <a:solidFill>
                  <a:srgbClr val="334155"/>
                </a:solidFill>
              </a:rPr>
              <a:t>beklenen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veri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doğru</a:t>
            </a:r>
            <a:r>
              <a:rPr lang="fr-FR" sz="1700" dirty="0">
                <a:solidFill>
                  <a:srgbClr val="334155"/>
                </a:solidFill>
              </a:rPr>
              <a:t> mu?)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Response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Time (</a:t>
            </a:r>
            <a:r>
              <a:rPr lang="fr-FR" sz="1700" dirty="0" err="1">
                <a:solidFill>
                  <a:srgbClr val="334155"/>
                </a:solidFill>
              </a:rPr>
              <a:t>belirlenen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sürede</a:t>
            </a:r>
            <a:r>
              <a:rPr lang="fr-FR" sz="1700" dirty="0">
                <a:solidFill>
                  <a:srgbClr val="334155"/>
                </a:solidFill>
              </a:rPr>
              <a:t> mi?)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Request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Body </a:t>
            </a:r>
            <a:r>
              <a:rPr lang="fr-FR" sz="1700" dirty="0" err="1">
                <a:solidFill>
                  <a:srgbClr val="334155"/>
                </a:solidFill>
              </a:rPr>
              <a:t>doğruluğu</a:t>
            </a:r>
            <a:r>
              <a:rPr lang="fr-FR" sz="1700" dirty="0">
                <a:solidFill>
                  <a:srgbClr val="334155"/>
                </a:solidFill>
              </a:rPr>
              <a:t> (POST / PUT)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srgbClr val="334155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dirty="0"/>
          </a:p>
        </p:txBody>
      </p:sp>
      <p:sp>
        <p:nvSpPr>
          <p:cNvPr id="21" name="Shape 18"/>
          <p:cNvSpPr/>
          <p:nvPr/>
        </p:nvSpPr>
        <p:spPr>
          <a:xfrm>
            <a:off x="6458865" y="1089860"/>
            <a:ext cx="109728" cy="198977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3"/>
          <a:srcRect l="6468" t="5290" r="6496" b="10458"/>
          <a:stretch/>
        </p:blipFill>
        <p:spPr>
          <a:xfrm>
            <a:off x="6800419" y="3201398"/>
            <a:ext cx="5233811" cy="3196927"/>
          </a:xfrm>
          <a:prstGeom prst="rect">
            <a:avLst/>
          </a:prstGeom>
        </p:spPr>
      </p:pic>
      <p:sp>
        <p:nvSpPr>
          <p:cNvPr id="40" name="Shape 3"/>
          <p:cNvSpPr/>
          <p:nvPr/>
        </p:nvSpPr>
        <p:spPr>
          <a:xfrm>
            <a:off x="658367" y="4744905"/>
            <a:ext cx="1912853" cy="6940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4"/>
          <p:cNvSpPr/>
          <p:nvPr/>
        </p:nvSpPr>
        <p:spPr>
          <a:xfrm>
            <a:off x="658367" y="4744905"/>
            <a:ext cx="71732" cy="69400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5"/>
          <p:cNvSpPr/>
          <p:nvPr/>
        </p:nvSpPr>
        <p:spPr>
          <a:xfrm>
            <a:off x="807809" y="4858469"/>
            <a:ext cx="1703635" cy="220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Client</a:t>
            </a:r>
            <a:endParaRPr lang="en-US" sz="2000" dirty="0"/>
          </a:p>
        </p:txBody>
      </p:sp>
      <p:sp>
        <p:nvSpPr>
          <p:cNvPr id="43" name="Text 6"/>
          <p:cNvSpPr/>
          <p:nvPr/>
        </p:nvSpPr>
        <p:spPr>
          <a:xfrm>
            <a:off x="807809" y="5091906"/>
            <a:ext cx="1703635" cy="2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Web / Mobil / Postman</a:t>
            </a:r>
            <a:endParaRPr lang="en-US" sz="1200" dirty="0"/>
          </a:p>
        </p:txBody>
      </p:sp>
      <p:sp>
        <p:nvSpPr>
          <p:cNvPr id="44" name="Shape 7"/>
          <p:cNvSpPr/>
          <p:nvPr/>
        </p:nvSpPr>
        <p:spPr>
          <a:xfrm>
            <a:off x="3228764" y="4744905"/>
            <a:ext cx="1912853" cy="6940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8"/>
          <p:cNvSpPr/>
          <p:nvPr/>
        </p:nvSpPr>
        <p:spPr>
          <a:xfrm>
            <a:off x="3228764" y="4744905"/>
            <a:ext cx="71732" cy="6940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9"/>
          <p:cNvSpPr/>
          <p:nvPr/>
        </p:nvSpPr>
        <p:spPr>
          <a:xfrm>
            <a:off x="3378205" y="4858469"/>
            <a:ext cx="1703635" cy="220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API</a:t>
            </a:r>
          </a:p>
        </p:txBody>
      </p:sp>
      <p:sp>
        <p:nvSpPr>
          <p:cNvPr id="47" name="Text 10"/>
          <p:cNvSpPr/>
          <p:nvPr/>
        </p:nvSpPr>
        <p:spPr>
          <a:xfrm>
            <a:off x="3378205" y="5091906"/>
            <a:ext cx="1703635" cy="2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4155"/>
                </a:solidFill>
              </a:rPr>
              <a:t>REST endpoint’ler</a:t>
            </a:r>
          </a:p>
        </p:txBody>
      </p:sp>
      <p:sp>
        <p:nvSpPr>
          <p:cNvPr id="48" name="Shape 11"/>
          <p:cNvSpPr/>
          <p:nvPr/>
        </p:nvSpPr>
        <p:spPr>
          <a:xfrm>
            <a:off x="5799161" y="4744905"/>
            <a:ext cx="1912853" cy="6940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12"/>
          <p:cNvSpPr/>
          <p:nvPr/>
        </p:nvSpPr>
        <p:spPr>
          <a:xfrm>
            <a:off x="5799161" y="4744905"/>
            <a:ext cx="71732" cy="69400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13"/>
          <p:cNvSpPr/>
          <p:nvPr/>
        </p:nvSpPr>
        <p:spPr>
          <a:xfrm>
            <a:off x="5948602" y="4858469"/>
            <a:ext cx="1703635" cy="220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Data</a:t>
            </a:r>
          </a:p>
        </p:txBody>
      </p:sp>
      <p:sp>
        <p:nvSpPr>
          <p:cNvPr id="51" name="Text 14"/>
          <p:cNvSpPr/>
          <p:nvPr/>
        </p:nvSpPr>
        <p:spPr>
          <a:xfrm>
            <a:off x="5948602" y="5091906"/>
            <a:ext cx="1703635" cy="2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4155"/>
                </a:solidFill>
              </a:rPr>
              <a:t>DB / Service / Cache</a:t>
            </a:r>
          </a:p>
        </p:txBody>
      </p:sp>
      <p:sp>
        <p:nvSpPr>
          <p:cNvPr id="52" name="Shape 15"/>
          <p:cNvSpPr/>
          <p:nvPr/>
        </p:nvSpPr>
        <p:spPr>
          <a:xfrm>
            <a:off x="2571220" y="5091906"/>
            <a:ext cx="657543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3" name="Shape 16"/>
          <p:cNvSpPr/>
          <p:nvPr/>
        </p:nvSpPr>
        <p:spPr>
          <a:xfrm>
            <a:off x="5141617" y="5091906"/>
            <a:ext cx="657543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33892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</a:t>
            </a:r>
            <a:r>
              <a:rPr lang="tr-TR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ıtım</a:t>
            </a:r>
            <a:r>
              <a:rPr lang="en-ZA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ZA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</a:t>
            </a:r>
            <a:r>
              <a:rPr lang="fr-FR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14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1112808"/>
            <a:ext cx="5943600" cy="4922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112808"/>
            <a:ext cx="109728" cy="4922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sp>
        <p:nvSpPr>
          <p:cNvPr id="30" name="ZoneTexte 29"/>
          <p:cNvSpPr txBox="1"/>
          <p:nvPr/>
        </p:nvSpPr>
        <p:spPr>
          <a:xfrm>
            <a:off x="1773591" y="1195216"/>
            <a:ext cx="3493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0F172A"/>
                </a:solidFill>
              </a:rPr>
              <a:t>Rest</a:t>
            </a:r>
            <a:r>
              <a:rPr lang="fr-FR" sz="2400" b="1" dirty="0">
                <a:solidFill>
                  <a:srgbClr val="0F172A"/>
                </a:solidFill>
              </a:rPr>
              <a:t> </a:t>
            </a:r>
            <a:r>
              <a:rPr lang="fr-FR" sz="2400" b="1" dirty="0" err="1">
                <a:solidFill>
                  <a:srgbClr val="0F172A"/>
                </a:solidFill>
              </a:rPr>
              <a:t>Assured</a:t>
            </a:r>
            <a:r>
              <a:rPr lang="fr-FR" sz="2400" b="1" dirty="0">
                <a:solidFill>
                  <a:srgbClr val="0F172A"/>
                </a:solidFill>
              </a:rPr>
              <a:t> </a:t>
            </a:r>
            <a:r>
              <a:rPr lang="fr-FR" sz="2400" b="1" dirty="0" err="1">
                <a:solidFill>
                  <a:srgbClr val="0F172A"/>
                </a:solidFill>
              </a:rPr>
              <a:t>nedir</a:t>
            </a:r>
            <a:r>
              <a:rPr lang="fr-FR" sz="2400" b="1" dirty="0">
                <a:solidFill>
                  <a:srgbClr val="0F172A"/>
                </a:solidFill>
              </a:rPr>
              <a:t>?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31" name="Text 6"/>
          <p:cNvSpPr/>
          <p:nvPr/>
        </p:nvSpPr>
        <p:spPr>
          <a:xfrm>
            <a:off x="777239" y="1645920"/>
            <a:ext cx="5528669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2000" b="1" u="sng" dirty="0">
                <a:solidFill>
                  <a:srgbClr val="C00000"/>
                </a:solidFill>
              </a:rPr>
              <a:t>Tan</a:t>
            </a:r>
            <a:r>
              <a:rPr lang="tr-TR" sz="2000" b="1" u="sng" dirty="0">
                <a:solidFill>
                  <a:srgbClr val="C00000"/>
                </a:solidFill>
              </a:rPr>
              <a:t>ıtım:</a:t>
            </a:r>
            <a:endParaRPr lang="fr-FR" sz="2000" b="1" u="sng" dirty="0">
              <a:solidFill>
                <a:srgbClr val="C00000"/>
              </a:solidFill>
            </a:endParaRPr>
          </a:p>
          <a:p>
            <a:r>
              <a:rPr lang="fr-FR" sz="1700" dirty="0" err="1">
                <a:solidFill>
                  <a:srgbClr val="334155"/>
                </a:solidFill>
              </a:rPr>
              <a:t>Rest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Assured</a:t>
            </a:r>
            <a:r>
              <a:rPr lang="fr-FR" sz="1700" dirty="0">
                <a:solidFill>
                  <a:srgbClr val="334155"/>
                </a:solidFill>
              </a:rPr>
              <a:t>, Java </a:t>
            </a:r>
            <a:r>
              <a:rPr lang="fr-FR" sz="1700" dirty="0" err="1">
                <a:solidFill>
                  <a:srgbClr val="334155"/>
                </a:solidFill>
              </a:rPr>
              <a:t>tabanlı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projelerde</a:t>
            </a:r>
            <a:r>
              <a:rPr lang="fr-FR" sz="1700" dirty="0">
                <a:solidFill>
                  <a:srgbClr val="334155"/>
                </a:solidFill>
              </a:rPr>
              <a:t> REST </a:t>
            </a:r>
            <a:r>
              <a:rPr lang="fr-FR" sz="1700" dirty="0" err="1">
                <a:solidFill>
                  <a:srgbClr val="334155"/>
                </a:solidFill>
              </a:rPr>
              <a:t>API’lerin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otomatik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olarak</a:t>
            </a:r>
            <a:r>
              <a:rPr lang="fr-FR" sz="1700" dirty="0">
                <a:solidFill>
                  <a:srgbClr val="334155"/>
                </a:solidFill>
              </a:rPr>
              <a:t> test </a:t>
            </a:r>
            <a:r>
              <a:rPr lang="fr-FR" sz="1700" dirty="0" err="1">
                <a:solidFill>
                  <a:srgbClr val="334155"/>
                </a:solidFill>
              </a:rPr>
              <a:t>edilmesini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sağlayan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bir</a:t>
            </a:r>
            <a:r>
              <a:rPr lang="fr-FR" sz="1700" dirty="0">
                <a:solidFill>
                  <a:srgbClr val="334155"/>
                </a:solidFill>
              </a:rPr>
              <a:t> test </a:t>
            </a:r>
            <a:r>
              <a:rPr lang="fr-FR" sz="1700" dirty="0" err="1">
                <a:solidFill>
                  <a:srgbClr val="334155"/>
                </a:solidFill>
              </a:rPr>
              <a:t>kütüphanesidir</a:t>
            </a:r>
            <a:r>
              <a:rPr lang="fr-FR" sz="1700" dirty="0">
                <a:solidFill>
                  <a:srgbClr val="334155"/>
                </a:solidFill>
              </a:rPr>
              <a:t>.</a:t>
            </a:r>
          </a:p>
          <a:p>
            <a:r>
              <a:rPr lang="fr-FR" sz="1700" dirty="0">
                <a:solidFill>
                  <a:srgbClr val="334155"/>
                </a:solidFill>
              </a:rPr>
              <a:t>API </a:t>
            </a:r>
            <a:r>
              <a:rPr lang="fr-FR" sz="1700" dirty="0" err="1">
                <a:solidFill>
                  <a:srgbClr val="334155"/>
                </a:solidFill>
              </a:rPr>
              <a:t>testlerini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okunabilir</a:t>
            </a:r>
            <a:r>
              <a:rPr lang="fr-FR" sz="1700" dirty="0">
                <a:solidFill>
                  <a:srgbClr val="334155"/>
                </a:solidFill>
              </a:rPr>
              <a:t>, </a:t>
            </a:r>
            <a:r>
              <a:rPr lang="fr-FR" sz="1700" dirty="0" err="1">
                <a:solidFill>
                  <a:srgbClr val="334155"/>
                </a:solidFill>
              </a:rPr>
              <a:t>kısa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ve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anlaşılır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şekilde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yazmaya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imkan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tanır</a:t>
            </a:r>
            <a:r>
              <a:rPr lang="fr-FR" sz="1700" dirty="0">
                <a:solidFill>
                  <a:srgbClr val="334155"/>
                </a:solidFill>
              </a:rPr>
              <a:t>.</a:t>
            </a:r>
          </a:p>
          <a:p>
            <a:endParaRPr lang="tr-TR" sz="2000" b="1" u="sng" dirty="0">
              <a:solidFill>
                <a:srgbClr val="C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u="sng" dirty="0">
                <a:solidFill>
                  <a:srgbClr val="C00000"/>
                </a:solidFill>
              </a:rPr>
              <a:t>Ne </a:t>
            </a:r>
            <a:r>
              <a:rPr lang="fr-FR" sz="2000" b="1" u="sng" dirty="0" err="1">
                <a:solidFill>
                  <a:srgbClr val="C00000"/>
                </a:solidFill>
              </a:rPr>
              <a:t>İşe</a:t>
            </a:r>
            <a:r>
              <a:rPr lang="fr-FR" sz="2000" b="1" u="sng" dirty="0">
                <a:solidFill>
                  <a:srgbClr val="C00000"/>
                </a:solidFill>
              </a:rPr>
              <a:t> </a:t>
            </a:r>
            <a:r>
              <a:rPr lang="fr-FR" sz="2000" b="1" u="sng" dirty="0" err="1">
                <a:solidFill>
                  <a:srgbClr val="C00000"/>
                </a:solidFill>
              </a:rPr>
              <a:t>Yarar</a:t>
            </a:r>
            <a:r>
              <a:rPr lang="fr-FR" sz="2000" b="1" u="sng" dirty="0">
                <a:solidFill>
                  <a:srgbClr val="C00000"/>
                </a:solidFill>
              </a:rPr>
              <a:t>?</a:t>
            </a:r>
          </a:p>
          <a:p>
            <a:r>
              <a:rPr lang="fr-FR" sz="1700" dirty="0" err="1">
                <a:solidFill>
                  <a:srgbClr val="334155"/>
                </a:solidFill>
              </a:rPr>
              <a:t>Rest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Assured</a:t>
            </a:r>
            <a:r>
              <a:rPr lang="fr-FR" sz="1700" dirty="0">
                <a:solidFill>
                  <a:srgbClr val="334155"/>
                </a:solidFill>
              </a:rPr>
              <a:t> ile:</a:t>
            </a:r>
          </a:p>
          <a:p>
            <a:r>
              <a:rPr lang="fr-FR" sz="1700" dirty="0" smtClean="0">
                <a:solidFill>
                  <a:srgbClr val="334155"/>
                </a:solidFill>
              </a:rPr>
              <a:t>- GET</a:t>
            </a:r>
            <a:r>
              <a:rPr lang="fr-FR" sz="1700" dirty="0">
                <a:solidFill>
                  <a:srgbClr val="334155"/>
                </a:solidFill>
              </a:rPr>
              <a:t>, POST, PUT, DELETE </a:t>
            </a:r>
            <a:r>
              <a:rPr lang="fr-FR" sz="1700" dirty="0" err="1">
                <a:solidFill>
                  <a:srgbClr val="334155"/>
                </a:solidFill>
              </a:rPr>
              <a:t>istekleri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gönderilir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API’den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dönen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status</a:t>
            </a:r>
            <a:r>
              <a:rPr lang="fr-FR" sz="1700" dirty="0">
                <a:solidFill>
                  <a:srgbClr val="334155"/>
                </a:solidFill>
              </a:rPr>
              <a:t> code </a:t>
            </a:r>
            <a:r>
              <a:rPr lang="fr-FR" sz="1700" dirty="0" err="1">
                <a:solidFill>
                  <a:srgbClr val="334155"/>
                </a:solidFill>
              </a:rPr>
              <a:t>kontrol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edilir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Response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body </a:t>
            </a:r>
            <a:r>
              <a:rPr lang="fr-FR" sz="1700" dirty="0" err="1">
                <a:solidFill>
                  <a:srgbClr val="334155"/>
                </a:solidFill>
              </a:rPr>
              <a:t>içindeki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alanlar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doğrulanır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Response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>
                <a:solidFill>
                  <a:srgbClr val="334155"/>
                </a:solidFill>
              </a:rPr>
              <a:t>time (</a:t>
            </a:r>
            <a:r>
              <a:rPr lang="fr-FR" sz="1700" dirty="0" err="1">
                <a:solidFill>
                  <a:srgbClr val="334155"/>
                </a:solidFill>
              </a:rPr>
              <a:t>performans</a:t>
            </a:r>
            <a:r>
              <a:rPr lang="fr-FR" sz="1700" dirty="0">
                <a:solidFill>
                  <a:srgbClr val="334155"/>
                </a:solidFill>
              </a:rPr>
              <a:t>) </a:t>
            </a:r>
            <a:r>
              <a:rPr lang="fr-FR" sz="1700" dirty="0" err="1" smtClean="0">
                <a:solidFill>
                  <a:srgbClr val="334155"/>
                </a:solidFill>
              </a:rPr>
              <a:t>ölçülür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r>
              <a:rPr lang="fr-FR" sz="1700" dirty="0" smtClean="0">
                <a:solidFill>
                  <a:srgbClr val="334155"/>
                </a:solidFill>
              </a:rPr>
              <a:t>- </a:t>
            </a:r>
            <a:r>
              <a:rPr lang="fr-FR" sz="1700" dirty="0" err="1" smtClean="0">
                <a:solidFill>
                  <a:srgbClr val="334155"/>
                </a:solidFill>
              </a:rPr>
              <a:t>Otomatik</a:t>
            </a:r>
            <a:r>
              <a:rPr lang="fr-FR" sz="1700" dirty="0" smtClean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regresyon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>
                <a:solidFill>
                  <a:srgbClr val="334155"/>
                </a:solidFill>
              </a:rPr>
              <a:t>testleri</a:t>
            </a:r>
            <a:r>
              <a:rPr lang="fr-FR" sz="1700" dirty="0">
                <a:solidFill>
                  <a:srgbClr val="334155"/>
                </a:solidFill>
              </a:rPr>
              <a:t> </a:t>
            </a:r>
            <a:r>
              <a:rPr lang="fr-FR" sz="1700" dirty="0" err="1" smtClean="0">
                <a:solidFill>
                  <a:srgbClr val="334155"/>
                </a:solidFill>
              </a:rPr>
              <a:t>yazılır</a:t>
            </a:r>
            <a:r>
              <a:rPr lang="fr-FR" sz="1700" dirty="0" smtClean="0">
                <a:solidFill>
                  <a:srgbClr val="334155"/>
                </a:solidFill>
              </a:rPr>
              <a:t>.</a:t>
            </a:r>
            <a:endParaRPr lang="fr-FR" sz="1700" dirty="0">
              <a:solidFill>
                <a:srgbClr val="334155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34155"/>
              </a:solidFill>
            </a:endParaRPr>
          </a:p>
        </p:txBody>
      </p:sp>
      <p:pic>
        <p:nvPicPr>
          <p:cNvPr id="3074" name="Picture 2" descr="REST Assured: CRUD Framework for API Tes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111" y="1968775"/>
            <a:ext cx="5529233" cy="321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Projede</a:t>
            </a:r>
            <a:r>
              <a:rPr lang="fr-F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fr-FR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yaptım</a:t>
            </a:r>
            <a:r>
              <a:rPr lang="fr-F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açısından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897880" cy="5568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2628" y="960120"/>
            <a:ext cx="109728" cy="525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8"/>
          <p:cNvSpPr/>
          <p:nvPr/>
        </p:nvSpPr>
        <p:spPr>
          <a:xfrm>
            <a:off x="1251434" y="1468978"/>
            <a:ext cx="4174581" cy="1330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4338" y="1078129"/>
            <a:ext cx="13534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2400" b="1" dirty="0" smtClean="0">
                <a:solidFill>
                  <a:srgbClr val="0F172A"/>
                </a:solidFill>
              </a:rPr>
              <a:t>Adımlar: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57300" y="1551856"/>
            <a:ext cx="4233845" cy="1173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arenR"/>
            </a:pPr>
            <a:r>
              <a:rPr lang="fr-FR" sz="16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Maven</a:t>
            </a:r>
            <a:r>
              <a:rPr lang="fr-FR" sz="16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tabanlı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bir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test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projesi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kurdum</a:t>
            </a:r>
            <a:endParaRPr lang="tr-TR" sz="1600" dirty="0" smtClean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Önce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projeyi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Maven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projesi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olarak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oluşturdum</a:t>
            </a:r>
            <a:r>
              <a:rPr lang="fr-FR" sz="11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.</a:t>
            </a:r>
            <a:endParaRPr lang="tr-TR" sz="1100" dirty="0" smtClean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  <a:cs typeface="Aldhabi" panose="01000000000000000000" pitchFamily="2" charset="-78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11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Böylece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:</a:t>
            </a:r>
          </a:p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tr-TR" sz="11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b</a:t>
            </a:r>
            <a:r>
              <a:rPr lang="fr-FR" sz="11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ağımlılıkları</a:t>
            </a:r>
            <a:r>
              <a:rPr lang="fr-FR" sz="11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(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Rest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Assured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, JUnit4) pom.xml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üzerinden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yönettim</a:t>
            </a:r>
            <a:r>
              <a:rPr lang="tr-TR" sz="11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.</a:t>
            </a:r>
          </a:p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110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testleri</a:t>
            </a:r>
            <a:r>
              <a:rPr lang="fr-FR" sz="11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tek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komutla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çalıştırabilir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hale 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getirdim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(</a:t>
            </a:r>
            <a:r>
              <a:rPr lang="fr-FR" sz="11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mvn</a:t>
            </a:r>
            <a:r>
              <a:rPr lang="fr-FR" sz="11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cs typeface="Aldhabi" panose="01000000000000000000" pitchFamily="2" charset="-78"/>
              </a:rPr>
              <a:t> test).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050" dirty="0">
              <a:latin typeface="Arial Rounded MT Bold" panose="020F0704030504030204" pitchFamily="34" charset="0"/>
              <a:cs typeface="Aldhabi" panose="01000000000000000000" pitchFamily="2" charset="-78"/>
            </a:endParaRPr>
          </a:p>
          <a:p>
            <a:endParaRPr lang="en-US" sz="1050" dirty="0">
              <a:solidFill>
                <a:schemeClr val="bg1"/>
              </a:solidFill>
              <a:latin typeface="Arial Rounded MT Bold" panose="020F0704030504030204" pitchFamily="34" charset="0"/>
              <a:cs typeface="Aldhabi" panose="010000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551383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960120"/>
            <a:ext cx="109728" cy="5394960"/>
          </a:xfrm>
          <a:prstGeom prst="rect">
            <a:avLst/>
          </a:prstGeom>
          <a:solidFill>
            <a:srgbClr val="C38CCA"/>
          </a:solidFill>
          <a:ln w="12700">
            <a:solidFill>
              <a:srgbClr val="C38C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251434" y="2918632"/>
            <a:ext cx="4174580" cy="14058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3" name="ZoneTexte 22"/>
          <p:cNvSpPr txBox="1"/>
          <p:nvPr/>
        </p:nvSpPr>
        <p:spPr>
          <a:xfrm>
            <a:off x="1271016" y="2911878"/>
            <a:ext cx="4230118" cy="1419311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buAutoNum type="arabicParenR"/>
              <a:defRPr sz="16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pPr marL="0" indent="0">
              <a:buNone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2) </a:t>
            </a:r>
            <a:r>
              <a:rPr lang="tr-TR" dirty="0" smtClean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lang="fr-FR" dirty="0" err="1" smtClean="0">
                <a:solidFill>
                  <a:schemeClr val="accent1">
                    <a:lumMod val="50000"/>
                  </a:schemeClr>
                </a:solidFill>
              </a:rPr>
              <a:t>rtak</a:t>
            </a:r>
            <a:r>
              <a:rPr lang="fr-FR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bir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altyapı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oluşturdum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BaseTest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tr-T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Kod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tekrarını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azaltmak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ve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testleri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profesyonel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yapmak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için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bir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BaseTest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sınıfı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yazdım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Bu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sınıfta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</a:rPr>
              <a:t>baseURI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</a:rPr>
              <a:t>olarak</a:t>
            </a: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https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://reqres.in</a:t>
            </a:r>
          </a:p>
          <a:p>
            <a:pPr marL="0" indent="0">
              <a:buNone/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</a:rPr>
              <a:t>basePath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</a:rPr>
              <a:t>olarak</a:t>
            </a: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api</a:t>
            </a: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</a:rPr>
              <a:t>ayarlarını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</a:rPr>
              <a:t>yaptım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fr-FR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tr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Shape 14"/>
          <p:cNvSpPr/>
          <p:nvPr/>
        </p:nvSpPr>
        <p:spPr>
          <a:xfrm>
            <a:off x="1251434" y="4442087"/>
            <a:ext cx="4154999" cy="18934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6" name="ZoneTexte 25"/>
          <p:cNvSpPr txBox="1"/>
          <p:nvPr/>
        </p:nvSpPr>
        <p:spPr>
          <a:xfrm>
            <a:off x="1251434" y="4448840"/>
            <a:ext cx="4434991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3) GET 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endpoint’i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için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otomatik</a:t>
            </a:r>
            <a:endParaRPr lang="tr-TR" sz="16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tr-T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tr-TR" sz="16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6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bir</a:t>
            </a:r>
            <a:r>
              <a:rPr lang="fr-FR" sz="16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API 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testi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yazdım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(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GetUserTest</a:t>
            </a:r>
            <a:r>
              <a:rPr lang="fr-FR" sz="16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)</a:t>
            </a:r>
            <a:endParaRPr lang="tr-TR" sz="1600" dirty="0" smtClean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tr-TR" sz="10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H</a:t>
            </a:r>
            <a:r>
              <a:rPr lang="fr-FR" sz="1000" dirty="0" err="1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azırlık</a:t>
            </a:r>
            <a:r>
              <a:rPr lang="fr-FR" sz="10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 → </a:t>
            </a:r>
            <a:r>
              <a:rPr lang="tr-TR" sz="10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İstek</a:t>
            </a:r>
            <a:r>
              <a:rPr lang="fr-FR" sz="10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 → </a:t>
            </a:r>
            <a:r>
              <a:rPr lang="tr-TR" sz="10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D</a:t>
            </a:r>
            <a:r>
              <a:rPr lang="fr-FR" sz="1000" dirty="0" err="1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oğrulama</a:t>
            </a:r>
            <a:endParaRPr lang="tr-TR" sz="10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GET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testinde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özellikle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şunları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doğruladım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Status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Code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 200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mü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0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</a:t>
            </a:r>
            <a:r>
              <a:rPr lang="tr-T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JSON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içindeki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alanlar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beklenen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gibi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mi?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data.id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doğru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kullanıcıyı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mı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gösteriyor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?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data.email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içinde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“@” var mı? (email format </a:t>
            </a:r>
            <a:r>
              <a:rPr lang="fr-FR" sz="10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tr-T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)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Time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cevap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belirlediğim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sürenin</a:t>
            </a:r>
            <a:endParaRPr lang="tr-TR" sz="1000" dirty="0" smtClean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(</a:t>
            </a:r>
            <a:r>
              <a:rPr lang="fr-FR" sz="10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örn</a:t>
            </a:r>
            <a:r>
              <a:rPr lang="fr-FR" sz="10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2000ms/3000ms) </a:t>
            </a:r>
            <a:r>
              <a:rPr lang="fr-FR" sz="10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altında</a:t>
            </a:r>
            <a:r>
              <a:rPr lang="fr-FR" sz="1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mı?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sz="1050" dirty="0" smtClean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05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7344745" y="1468978"/>
            <a:ext cx="4174581" cy="14496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9" name="ZoneTexte 28"/>
          <p:cNvSpPr txBox="1"/>
          <p:nvPr/>
        </p:nvSpPr>
        <p:spPr>
          <a:xfrm>
            <a:off x="7432519" y="1511581"/>
            <a:ext cx="4174581" cy="19159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4) POST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endpoint’i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için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request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içeren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test 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yazdım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(</a:t>
            </a:r>
            <a:r>
              <a:rPr lang="fr-FR" sz="16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CreateUserTest</a:t>
            </a:r>
            <a:r>
              <a:rPr lang="fr-FR" sz="160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)</a:t>
            </a:r>
            <a:endParaRPr lang="tr-TR" sz="1600" dirty="0" smtClean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JSON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formatında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bir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request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oluşturdum</a:t>
            </a:r>
            <a:r>
              <a:rPr lang="fr-F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ör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: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name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+ job)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contentType</a:t>
            </a:r>
            <a:r>
              <a:rPr lang="fr-F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(JSON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)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diyerek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isteğin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JSON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olduğunu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belirttim</a:t>
            </a: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  <a:endParaRPr lang="fr-FR" sz="1050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post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("/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users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") ile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sunucuya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POST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isteği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gönderdim</a:t>
            </a: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  <a:endParaRPr lang="fr-FR" sz="1050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Dönen</a:t>
            </a:r>
            <a:r>
              <a:rPr lang="fr-F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cevabı</a:t>
            </a:r>
            <a:r>
              <a:rPr lang="fr-FR" sz="105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doğruladım</a:t>
            </a:r>
            <a:r>
              <a:rPr lang="tr-TR" sz="1050" dirty="0" smtClean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  <a:endParaRPr lang="fr-FR" sz="1050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endParaRPr lang="fr-FR" sz="1600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endParaRPr lang="tr-TR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Shape 16"/>
          <p:cNvSpPr/>
          <p:nvPr/>
        </p:nvSpPr>
        <p:spPr>
          <a:xfrm>
            <a:off x="7344746" y="3032138"/>
            <a:ext cx="4174580" cy="126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4" name="ZoneTexte 33"/>
          <p:cNvSpPr txBox="1"/>
          <p:nvPr/>
        </p:nvSpPr>
        <p:spPr>
          <a:xfrm>
            <a:off x="7344746" y="3140133"/>
            <a:ext cx="4174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5)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Testleri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çalıştırıp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otomatik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regresyon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mantığı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600" dirty="0" err="1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kurdum</a:t>
            </a:r>
            <a:endParaRPr lang="tr-TR" sz="1600" dirty="0" smtClean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Testleri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iki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şekilde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çalıştırabilir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hale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getirdim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:</a:t>
            </a:r>
            <a:endParaRPr lang="fr-FR" sz="11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-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IntelliJ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üzerinden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“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Run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”</a:t>
            </a: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  <a:endParaRPr lang="fr-FR" sz="11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- </a:t>
            </a:r>
            <a:r>
              <a:rPr lang="fr-FR" sz="1100" dirty="0" err="1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Maven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üzerinden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mvn</a:t>
            </a:r>
            <a:r>
              <a:rPr lang="fr-FR" sz="11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test</a:t>
            </a: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  <a:endParaRPr lang="fr-FR" sz="11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600" dirty="0">
              <a:latin typeface="Arial" panose="020B0604020202020204" pitchFamily="34" charset="0"/>
            </a:endParaRPr>
          </a:p>
          <a:p>
            <a:endParaRPr lang="fr-FR" sz="16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endParaRPr lang="tr-TR" dirty="0"/>
          </a:p>
        </p:txBody>
      </p:sp>
      <p:sp>
        <p:nvSpPr>
          <p:cNvPr id="36" name="Shape 14"/>
          <p:cNvSpPr/>
          <p:nvPr/>
        </p:nvSpPr>
        <p:spPr>
          <a:xfrm>
            <a:off x="7344746" y="4402548"/>
            <a:ext cx="4154999" cy="18934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37" name="ZoneTexte 36"/>
          <p:cNvSpPr txBox="1"/>
          <p:nvPr/>
        </p:nvSpPr>
        <p:spPr>
          <a:xfrm>
            <a:off x="7512482" y="4477415"/>
            <a:ext cx="381952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6) </a:t>
            </a:r>
            <a:r>
              <a:rPr lang="fr-FR" sz="16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Sonuç</a:t>
            </a:r>
            <a:r>
              <a:rPr lang="tr-TR" sz="1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Rest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Assured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ile servis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testi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yazdı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Java +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Maven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+ JUnit4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kullandı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GET 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+ POST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yaptı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Status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code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yaptı</a:t>
            </a:r>
            <a:r>
              <a:rPr lang="tr-T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yaptı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time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yaptı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POST’ta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request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kullandı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✅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Testleri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çalıştırıp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1100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gösterilecek</a:t>
            </a:r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hale </a:t>
            </a:r>
            <a:r>
              <a:rPr lang="fr-FR" sz="1100" dirty="0" err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getirdi</a:t>
            </a:r>
            <a:r>
              <a:rPr lang="tr-TR" sz="1100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</a:t>
            </a:r>
            <a:endParaRPr lang="fr-FR" sz="1100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Kod &amp; Proje Yapısı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standardı + tekrar kullanılabilir test altyapısı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76962" y="870204"/>
            <a:ext cx="5463584" cy="340685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31" name="Groupe 30"/>
          <p:cNvGrpSpPr/>
          <p:nvPr/>
        </p:nvGrpSpPr>
        <p:grpSpPr>
          <a:xfrm>
            <a:off x="548640" y="822960"/>
            <a:ext cx="4632961" cy="752821"/>
            <a:chOff x="7464551" y="822960"/>
            <a:chExt cx="5554487" cy="825627"/>
          </a:xfrm>
        </p:grpSpPr>
        <p:sp>
          <p:nvSpPr>
            <p:cNvPr id="8" name="Shape 6"/>
            <p:cNvSpPr/>
            <p:nvPr/>
          </p:nvSpPr>
          <p:spPr>
            <a:xfrm>
              <a:off x="7464551" y="834009"/>
              <a:ext cx="5554487" cy="81457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7464552" y="822960"/>
              <a:ext cx="117348" cy="81457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724476" y="945088"/>
              <a:ext cx="5212221" cy="25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F172A"/>
                  </a:solidFill>
                </a:rPr>
                <a:t>BaseTest (ortak konfigürasyon)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724476" y="1204272"/>
              <a:ext cx="5212221" cy="4072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34155"/>
                  </a:solidFill>
                </a:rPr>
                <a:t>baseURI, basePath, ortak header/timeout ayarları</a:t>
              </a:r>
              <a:endParaRPr lang="en-US" sz="1600" dirty="0"/>
            </a:p>
          </p:txBody>
        </p:sp>
      </p:grpSp>
      <p:grpSp>
        <p:nvGrpSpPr>
          <p:cNvPr id="29" name="Groupe 28"/>
          <p:cNvGrpSpPr/>
          <p:nvPr/>
        </p:nvGrpSpPr>
        <p:grpSpPr>
          <a:xfrm>
            <a:off x="548640" y="1728712"/>
            <a:ext cx="4269943" cy="830832"/>
            <a:chOff x="6995160" y="2286000"/>
            <a:chExt cx="5193792" cy="1005840"/>
          </a:xfrm>
        </p:grpSpPr>
        <p:sp>
          <p:nvSpPr>
            <p:cNvPr id="12" name="Shape 10"/>
            <p:cNvSpPr/>
            <p:nvPr/>
          </p:nvSpPr>
          <p:spPr>
            <a:xfrm>
              <a:off x="6995160" y="2286000"/>
              <a:ext cx="5193792" cy="10058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6995160" y="2286000"/>
              <a:ext cx="109728" cy="1005840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223760" y="2423160"/>
              <a:ext cx="487375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rgbClr val="0F172A"/>
                  </a:solidFill>
                </a:rPr>
                <a:t>GetUserTest</a:t>
              </a:r>
            </a:p>
          </p:txBody>
        </p:sp>
        <p:sp>
          <p:nvSpPr>
            <p:cNvPr id="15" name="Text 13"/>
            <p:cNvSpPr/>
            <p:nvPr/>
          </p:nvSpPr>
          <p:spPr>
            <a:xfrm>
              <a:off x="7223760" y="2743200"/>
              <a:ext cx="4873752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34155"/>
                  </a:solidFill>
                </a:rPr>
                <a:t>GET isteği + status/body/time doğrulamaları</a:t>
              </a:r>
              <a:endParaRPr lang="en-US" sz="16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/>
          <a:srcRect l="19241" t="4943" r="20415" b="16144"/>
          <a:stretch/>
        </p:blipFill>
        <p:spPr>
          <a:xfrm>
            <a:off x="250663" y="2609912"/>
            <a:ext cx="5718871" cy="3829050"/>
          </a:xfrm>
          <a:prstGeom prst="rect">
            <a:avLst/>
          </a:prstGeom>
        </p:spPr>
      </p:pic>
      <p:sp>
        <p:nvSpPr>
          <p:cNvPr id="32" name="ZoneTexte 31"/>
          <p:cNvSpPr txBox="1"/>
          <p:nvPr/>
        </p:nvSpPr>
        <p:spPr>
          <a:xfrm>
            <a:off x="6508202" y="998285"/>
            <a:ext cx="53323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dirty="0">
                <a:solidFill>
                  <a:srgbClr val="B3AE60"/>
                </a:solidFill>
                <a:latin typeface="Arial Rounded MT Bold" panose="020F0704030504030204" pitchFamily="34" charset="0"/>
              </a:rPr>
              <a:t>@Test</a:t>
            </a:r>
            <a:br>
              <a:rPr lang="fr-FR" sz="1200" dirty="0">
                <a:solidFill>
                  <a:srgbClr val="B3AE60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CF8E6D"/>
                </a:solidFill>
                <a:latin typeface="Arial Rounded MT Bold" panose="020F0704030504030204" pitchFamily="34" charset="0"/>
              </a:rPr>
              <a:t>public </a:t>
            </a:r>
            <a:r>
              <a:rPr lang="fr-FR" sz="1200" dirty="0" err="1">
                <a:solidFill>
                  <a:srgbClr val="CF8E6D"/>
                </a:solidFill>
                <a:latin typeface="Arial Rounded MT Bold" panose="020F0704030504030204" pitchFamily="34" charset="0"/>
              </a:rPr>
              <a:t>void</a:t>
            </a:r>
            <a:r>
              <a:rPr lang="fr-FR" sz="1200" dirty="0">
                <a:solidFill>
                  <a:srgbClr val="CF8E6D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>
                <a:solidFill>
                  <a:srgbClr val="56A8F5"/>
                </a:solidFill>
                <a:latin typeface="Arial Rounded MT Bold" panose="020F0704030504030204" pitchFamily="34" charset="0"/>
              </a:rPr>
              <a:t>getPostById_shouldReturn200_andCorrectBody_andFastResponse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 {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/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</a:t>
            </a:r>
            <a:r>
              <a:rPr lang="fr-FR" sz="120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given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20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when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20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get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"/</a:t>
            </a:r>
            <a:r>
              <a:rPr lang="fr-FR" sz="120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posts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/1"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20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then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20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statusCode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20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200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                      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status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code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.time(</a:t>
            </a:r>
            <a:r>
              <a:rPr lang="fr-FR" sz="120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lessThan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20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2000L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                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time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(2 sn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altı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)</a:t>
            </a:r>
            <a:b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.body(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"id"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20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equalTo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20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1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               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.body(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20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userId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20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notNullValue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.body(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20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title</a:t>
            </a:r>
            <a:r>
              <a:rPr lang="fr-FR" sz="120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20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notNullValue</a:t>
            </a: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())</a:t>
            </a:r>
            <a:b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.log().all();                          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(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sunum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için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)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response'u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20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yazdırır</a:t>
            </a:r>
            <a: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20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20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}</a:t>
            </a:r>
            <a:endParaRPr lang="fr-FR" sz="1200" dirty="0">
              <a:latin typeface="Arial Rounded MT Bold" panose="020F0704030504030204" pitchFamily="34" charset="0"/>
            </a:endParaRPr>
          </a:p>
        </p:txBody>
      </p:sp>
      <p:sp>
        <p:nvSpPr>
          <p:cNvPr id="3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91A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865" y="4925703"/>
            <a:ext cx="4619778" cy="1420980"/>
          </a:xfrm>
          <a:prstGeom prst="rect">
            <a:avLst/>
          </a:prstGeom>
        </p:spPr>
      </p:pic>
      <p:sp>
        <p:nvSpPr>
          <p:cNvPr id="35" name="ZoneTexte 34"/>
          <p:cNvSpPr txBox="1"/>
          <p:nvPr/>
        </p:nvSpPr>
        <p:spPr>
          <a:xfrm>
            <a:off x="6791325" y="4486275"/>
            <a:ext cx="238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Sonuç:</a:t>
            </a:r>
            <a:endParaRPr lang="tr-TR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Kod &amp; Proje Yapısı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standardı + tekrar kullanılabilir test altyapısı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3291" y="756996"/>
            <a:ext cx="6251509" cy="425381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27" name="Groupe 26"/>
          <p:cNvGrpSpPr/>
          <p:nvPr/>
        </p:nvGrpSpPr>
        <p:grpSpPr>
          <a:xfrm>
            <a:off x="147229" y="874802"/>
            <a:ext cx="5311902" cy="1094613"/>
            <a:chOff x="6995160" y="3429000"/>
            <a:chExt cx="5193792" cy="1005840"/>
          </a:xfrm>
        </p:grpSpPr>
        <p:sp>
          <p:nvSpPr>
            <p:cNvPr id="16" name="Shape 14"/>
            <p:cNvSpPr/>
            <p:nvPr/>
          </p:nvSpPr>
          <p:spPr>
            <a:xfrm>
              <a:off x="6995160" y="3429000"/>
              <a:ext cx="5193792" cy="10058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6995160" y="3429000"/>
              <a:ext cx="109728" cy="100584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223760" y="3566160"/>
              <a:ext cx="487375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rgbClr val="0F172A"/>
                  </a:solidFill>
                </a:rPr>
                <a:t>CreateUserTest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219950" y="3905250"/>
              <a:ext cx="4877562" cy="4838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34155"/>
                  </a:solidFill>
                </a:rPr>
                <a:t>POST isteği + JSON request body + doğrulamalar</a:t>
              </a:r>
              <a:endParaRPr lang="en-US" sz="16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sp>
        <p:nvSpPr>
          <p:cNvPr id="32" name="ZoneTexte 31"/>
          <p:cNvSpPr txBox="1"/>
          <p:nvPr/>
        </p:nvSpPr>
        <p:spPr>
          <a:xfrm>
            <a:off x="5638936" y="878909"/>
            <a:ext cx="6275670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050" dirty="0">
                <a:solidFill>
                  <a:srgbClr val="B3AE60"/>
                </a:solidFill>
                <a:latin typeface="Arial Rounded MT Bold" panose="020F0704030504030204" pitchFamily="34" charset="0"/>
              </a:rPr>
              <a:t>@Test</a:t>
            </a:r>
            <a:br>
              <a:rPr lang="fr-FR" sz="1050" dirty="0">
                <a:solidFill>
                  <a:srgbClr val="B3AE60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CF8E6D"/>
                </a:solidFill>
                <a:latin typeface="Arial Rounded MT Bold" panose="020F0704030504030204" pitchFamily="34" charset="0"/>
              </a:rPr>
              <a:t>public </a:t>
            </a:r>
            <a:r>
              <a:rPr lang="fr-FR" sz="1050" dirty="0" err="1">
                <a:solidFill>
                  <a:srgbClr val="CF8E6D"/>
                </a:solidFill>
                <a:latin typeface="Arial Rounded MT Bold" panose="020F0704030504030204" pitchFamily="34" charset="0"/>
              </a:rPr>
              <a:t>void</a:t>
            </a:r>
            <a:r>
              <a:rPr lang="fr-FR" sz="1050" dirty="0">
                <a:solidFill>
                  <a:srgbClr val="CF8E6D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>
                <a:solidFill>
                  <a:srgbClr val="56A8F5"/>
                </a:solidFill>
                <a:latin typeface="Arial Rounded MT Bold" panose="020F0704030504030204" pitchFamily="34" charset="0"/>
              </a:rPr>
              <a:t>createPost_shouldReturn201_andReturnSameFields_andFastResponse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 {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String 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requestBody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= 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"""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{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  "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title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": "Test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Title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",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  "body": "Hello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from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Rest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Assured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",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  "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userId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": 1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}</a:t>
            </a:r>
            <a:b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           """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;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given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contentType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i="1" dirty="0">
                <a:solidFill>
                  <a:srgbClr val="C77DBB"/>
                </a:solidFill>
                <a:latin typeface="Arial Rounded MT Bold" panose="020F0704030504030204" pitchFamily="34" charset="0"/>
              </a:rPr>
              <a:t>JSON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.body(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requestBody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                    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request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body var</a:t>
            </a:r>
            <a:b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when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.post(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"/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posts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then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</a:t>
            </a:r>
            <a:r>
              <a:rPr lang="fr-FR" sz="1050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statusCode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201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                      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status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code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.time(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lessThan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2000L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                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time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.body(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title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equalTo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"Test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Title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 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✅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response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body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kontrolü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.body(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"body"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equalTo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"Hello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from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Rest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Assured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.body(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 err="1">
                <a:solidFill>
                  <a:srgbClr val="6AAB73"/>
                </a:solidFill>
                <a:latin typeface="Arial Rounded MT Bold" panose="020F0704030504030204" pitchFamily="34" charset="0"/>
              </a:rPr>
              <a:t>userId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equalTo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</a:t>
            </a:r>
            <a:r>
              <a:rPr lang="fr-FR" sz="1050" dirty="0">
                <a:solidFill>
                  <a:srgbClr val="2AACB8"/>
                </a:solidFill>
                <a:latin typeface="Arial Rounded MT Bold" panose="020F0704030504030204" pitchFamily="34" charset="0"/>
              </a:rPr>
              <a:t>1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))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            .body(</a:t>
            </a:r>
            <a:r>
              <a:rPr lang="fr-FR" sz="1050" dirty="0">
                <a:solidFill>
                  <a:srgbClr val="6AAB73"/>
                </a:solidFill>
                <a:latin typeface="Arial Rounded MT Bold" panose="020F0704030504030204" pitchFamily="34" charset="0"/>
              </a:rPr>
              <a:t>"id"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, </a:t>
            </a:r>
            <a:r>
              <a:rPr lang="fr-FR" sz="1050" i="1" dirty="0" err="1">
                <a:solidFill>
                  <a:srgbClr val="BCBEC4"/>
                </a:solidFill>
                <a:latin typeface="Arial Rounded MT Bold" panose="020F0704030504030204" pitchFamily="34" charset="0"/>
              </a:rPr>
              <a:t>notNullValue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())            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//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JSONPlaceholder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genelde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id </a:t>
            </a:r>
            <a:r>
              <a:rPr lang="fr-FR" sz="1050" dirty="0" err="1">
                <a:solidFill>
                  <a:srgbClr val="7A7E85"/>
                </a:solidFill>
                <a:latin typeface="Arial Rounded MT Bold" panose="020F0704030504030204" pitchFamily="34" charset="0"/>
              </a:rPr>
              <a:t>döndürür</a:t>
            </a: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/>
            </a:r>
            <a:b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</a:br>
            <a:r>
              <a:rPr lang="fr-FR" sz="1050" dirty="0">
                <a:solidFill>
                  <a:srgbClr val="7A7E85"/>
                </a:solidFill>
                <a:latin typeface="Arial Rounded MT Bold" panose="020F0704030504030204" pitchFamily="34" charset="0"/>
              </a:rPr>
              <a:t>            </a:t>
            </a:r>
            <a: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  <a:t>.log().all();</a:t>
            </a:r>
            <a:br>
              <a:rPr lang="fr-FR" sz="1050" dirty="0">
                <a:solidFill>
                  <a:srgbClr val="BCBEC4"/>
                </a:solidFill>
                <a:latin typeface="Arial Rounded MT Bold" panose="020F0704030504030204" pitchFamily="34" charset="0"/>
              </a:rPr>
            </a:br>
            <a:r>
              <a:rPr lang="tr-TR" sz="1050" dirty="0" smtClean="0">
                <a:solidFill>
                  <a:srgbClr val="BCBEC4"/>
                </a:solidFill>
                <a:latin typeface="Arial Rounded MT Bold" panose="020F0704030504030204" pitchFamily="34" charset="0"/>
              </a:rPr>
              <a:t>      </a:t>
            </a:r>
            <a:r>
              <a:rPr lang="fr-FR" sz="1050" dirty="0" smtClean="0">
                <a:solidFill>
                  <a:srgbClr val="BCBEC4"/>
                </a:solidFill>
                <a:latin typeface="Arial Rounded MT Bold" panose="020F0704030504030204" pitchFamily="34" charset="0"/>
              </a:rPr>
              <a:t>}</a:t>
            </a:r>
            <a:endParaRPr lang="fr-FR" sz="1050" dirty="0">
              <a:latin typeface="Arial Rounded MT Bold" panose="020F0704030504030204" pitchFamily="34" charset="0"/>
            </a:endParaRPr>
          </a:p>
        </p:txBody>
      </p:sp>
      <p:sp>
        <p:nvSpPr>
          <p:cNvPr id="3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91A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2" y="2207317"/>
            <a:ext cx="4705799" cy="3966506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91A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473" y="5044905"/>
            <a:ext cx="3439252" cy="1522967"/>
          </a:xfrm>
          <a:prstGeom prst="rect">
            <a:avLst/>
          </a:prstGeom>
        </p:spPr>
      </p:pic>
      <p:sp>
        <p:nvSpPr>
          <p:cNvPr id="39" name="ZoneTexte 38"/>
          <p:cNvSpPr txBox="1"/>
          <p:nvPr/>
        </p:nvSpPr>
        <p:spPr>
          <a:xfrm>
            <a:off x="5483291" y="5252390"/>
            <a:ext cx="238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Sonuç:</a:t>
            </a:r>
            <a:endParaRPr lang="tr-TR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82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035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10972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07592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600" b="1" dirty="0" smtClean="0">
                <a:solidFill>
                  <a:srgbClr val="0F172A"/>
                </a:solidFill>
              </a:rPr>
              <a:t>GitHub’a yüklemek: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5715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6035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520440"/>
            <a:ext cx="109728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85032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600" b="1" dirty="0" smtClean="0">
                <a:solidFill>
                  <a:srgbClr val="0F172A"/>
                </a:solidFill>
              </a:rPr>
              <a:t>GitHub bağlantısı: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64792"/>
            <a:ext cx="5126673" cy="1207008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777240" y="4206359"/>
            <a:ext cx="550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https://github.com/rouabelhaj/YazilimOdevi030123100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gereksinimlerine uygun teknoloji seçimi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109728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075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Java 17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Test kodları Java ile yazıldı.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14300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075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Maven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Bağımlılık yönetimi ve test çalıştırma (mvn test).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143000"/>
            <a:ext cx="109728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3075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JUnit4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Test framework (annotation + assertions).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63240"/>
            <a:ext cx="10972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27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REST Assured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3611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REST API testleri için DSL.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43400" y="306324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063240"/>
            <a:ext cx="10972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227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ReqRes (Demo API)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0" y="3611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GET/POST senaryolarını göstermek için.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8160" y="306324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063240"/>
            <a:ext cx="109728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227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GitHub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66760" y="3611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Public repo + teslim linki.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94415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93792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Not: JSON veya XML fark etmez; bu projede JSON request/response kullanıldı.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638544"/>
            <a:ext cx="1109441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Rest Assured • JUnit4 • Maven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828800"/>
            <a:ext cx="1109441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814" y="29260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Teşekkürler!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813" y="3749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dirty="0" smtClean="0">
                <a:solidFill>
                  <a:srgbClr val="93C5FD"/>
                </a:solidFill>
              </a:rPr>
              <a:t>Roua Haj momamed</a:t>
            </a:r>
          </a:p>
          <a:p>
            <a:pPr marL="0" indent="0" algn="ctr">
              <a:buNone/>
            </a:pPr>
            <a:r>
              <a:rPr lang="tr-TR" sz="1600" dirty="0" smtClean="0">
                <a:solidFill>
                  <a:srgbClr val="93C5FD"/>
                </a:solidFill>
              </a:rPr>
              <a:t>030123100</a:t>
            </a:r>
          </a:p>
          <a:p>
            <a:pPr marL="0" indent="0" algn="ctr">
              <a:buNone/>
            </a:pPr>
            <a:r>
              <a:rPr lang="tr-TR" sz="1600" dirty="0" smtClean="0">
                <a:solidFill>
                  <a:srgbClr val="93C5FD"/>
                </a:solidFill>
              </a:rPr>
              <a:t>Bilgisayar Mühendislik 3. sınıf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932</Words>
  <Application>Microsoft Office PowerPoint</Application>
  <PresentationFormat>Grand écran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Aldhabi</vt:lpstr>
      <vt:lpstr>Arial</vt:lpstr>
      <vt:lpstr>Arial Black</vt:lpstr>
      <vt:lpstr>Arial Rounded MT Bold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Compte Microsoft</cp:lastModifiedBy>
  <cp:revision>68</cp:revision>
  <dcterms:created xsi:type="dcterms:W3CDTF">2025-12-24T12:20:41Z</dcterms:created>
  <dcterms:modified xsi:type="dcterms:W3CDTF">2026-01-02T11:59:40Z</dcterms:modified>
</cp:coreProperties>
</file>